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3"/>
    <p:sldId id="258" r:id="rId4"/>
    <p:sldId id="1696" r:id="rId5"/>
    <p:sldId id="1698" r:id="rId6"/>
    <p:sldId id="1697" r:id="rId7"/>
    <p:sldId id="1699" r:id="rId8"/>
    <p:sldId id="1702" r:id="rId9"/>
    <p:sldId id="1700" r:id="rId10"/>
    <p:sldId id="1701" r:id="rId11"/>
    <p:sldId id="1703" r:id="rId12"/>
    <p:sldId id="1721" r:id="rId13"/>
    <p:sldId id="1704" r:id="rId14"/>
    <p:sldId id="1705" r:id="rId15"/>
    <p:sldId id="1713" r:id="rId16"/>
    <p:sldId id="1714" r:id="rId17"/>
    <p:sldId id="1715" r:id="rId18"/>
    <p:sldId id="1716" r:id="rId19"/>
    <p:sldId id="1717" r:id="rId20"/>
    <p:sldId id="1718" r:id="rId21"/>
    <p:sldId id="1719" r:id="rId22"/>
    <p:sldId id="1720" r:id="rId23"/>
    <p:sldId id="1708" r:id="rId24"/>
    <p:sldId id="1706" r:id="rId25"/>
    <p:sldId id="1707" r:id="rId26"/>
    <p:sldId id="1709" r:id="rId27"/>
    <p:sldId id="1710" r:id="rId28"/>
    <p:sldId id="1711" r:id="rId29"/>
    <p:sldId id="1712" r:id="rId30"/>
    <p:sldId id="1695" r:id="rId31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8DD"/>
    <a:srgbClr val="DAD8EE"/>
    <a:srgbClr val="40B9D8"/>
    <a:srgbClr val="32D3E7"/>
    <a:srgbClr val="C2F3F8"/>
    <a:srgbClr val="C9E0F7"/>
    <a:srgbClr val="A67287"/>
    <a:srgbClr val="5451C7"/>
    <a:srgbClr val="4574D3"/>
    <a:srgbClr val="2C9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napToGrid="0" showGuides="1">
      <p:cViewPr varScale="1">
        <p:scale>
          <a:sx n="93" d="100"/>
          <a:sy n="93" d="100"/>
        </p:scale>
        <p:origin x="54" y="123"/>
      </p:cViewPr>
      <p:guideLst>
        <p:guide orient="horz" pos="2213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46" y="-90"/>
      </p:cViewPr>
      <p:guideLst>
        <p:guide orient="horz" pos="2951"/>
        <p:guide pos="215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99DF1-3932-451E-8BA5-7F3599D79F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8DFB9-F54E-41A1-8671-F2E8401B40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F:\瑞度8000\信息技术大学VI\PPT\未标题-1-09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567" y="516235"/>
            <a:ext cx="4213229" cy="74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3857"/>
            <a:ext cx="12188364" cy="3427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瑞度8000\信息技术大学VI\PPT\未标题-1-04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79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F:\瑞度8000\信息技术大学VI\PPT\未标题-1-04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878"/>
            <a:ext cx="12192001" cy="685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:\瑞度8000\信息技术大学VI\PPT\未标题-1-04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79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image" Target="../media/image6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:\瑞度8000\信息技术大学VI\PPT\未标题-1-04.jp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79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F:\瑞度8000\信息技术大学VI\PPT\未标题-1-09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218" y="208457"/>
            <a:ext cx="1861681" cy="32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 userDrawn="1"/>
        </p:nvCxnSpPr>
        <p:spPr>
          <a:xfrm>
            <a:off x="428625" y="590550"/>
            <a:ext cx="1134427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marR="0" indent="-17145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kumimoji="0" lang="zh-CN" altLang="en-US" sz="1200" b="0" i="0" u="none" strike="noStrike" kern="1200" cap="none" spc="0" normalizeH="0" baseline="0" noProof="0">
          <a:ln>
            <a:noFill/>
          </a:ln>
          <a:solidFill>
            <a:srgbClr val="000000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3"/>
          <p:cNvSpPr>
            <a:spLocks noGrp="1"/>
          </p:cNvSpPr>
          <p:nvPr>
            <p:ph type="ctrTitle" idx="4294967295"/>
          </p:nvPr>
        </p:nvSpPr>
        <p:spPr>
          <a:xfrm>
            <a:off x="0" y="2605656"/>
            <a:ext cx="12192000" cy="63042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</a:rPr>
              <a:t>图书借阅管理系统</a:t>
            </a:r>
            <a:endParaRPr lang="zh-CN" altLang="en-US" sz="60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441624"/>
            <a:ext cx="121920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汇报人：时荷一</a:t>
            </a:r>
            <a:r>
              <a:rPr lang="en-US" altLang="zh-CN" dirty="0"/>
              <a:t> 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" y="3588385"/>
            <a:ext cx="12192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基于</a:t>
            </a:r>
            <a:r>
              <a:rPr lang="en-US" altLang="zh-CN" sz="2400" dirty="0">
                <a:solidFill>
                  <a:schemeClr val="bg1"/>
                </a:solidFill>
              </a:rPr>
              <a:t>Vue3+Flask</a:t>
            </a:r>
            <a:r>
              <a:rPr lang="zh-CN" altLang="en-US" sz="2400" dirty="0">
                <a:solidFill>
                  <a:schemeClr val="bg1"/>
                </a:solidFill>
              </a:rPr>
              <a:t>的前后端数字化管理平台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58659" y="1537334"/>
            <a:ext cx="29208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54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目录大纲</a:t>
            </a:r>
            <a:endParaRPr lang="en-US" altLang="zh-CN" sz="2400" b="1" dirty="0">
              <a:solidFill>
                <a:srgbClr val="0054A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b="1" dirty="0">
                <a:solidFill>
                  <a:srgbClr val="0054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3200" b="1" dirty="0">
              <a:solidFill>
                <a:srgbClr val="0054A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34688" y="1034524"/>
            <a:ext cx="2162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54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Contents</a:t>
            </a:r>
            <a:endParaRPr lang="zh-CN" altLang="en-US" sz="3200" b="1" dirty="0">
              <a:solidFill>
                <a:srgbClr val="0054A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08828" y="1666603"/>
            <a:ext cx="639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D80C18"/>
                </a:solidFill>
              </a:rPr>
              <a:t>01</a:t>
            </a:r>
            <a:endParaRPr lang="zh-CN" altLang="en-US" sz="3200" b="1" dirty="0">
              <a:solidFill>
                <a:srgbClr val="D80C18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08828" y="21656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项目概况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13230" y="2614101"/>
            <a:ext cx="15392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Overview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228303" y="1666603"/>
            <a:ext cx="639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D80C18"/>
                </a:solidFill>
              </a:rPr>
              <a:t>02</a:t>
            </a:r>
            <a:endParaRPr lang="zh-CN" altLang="en-US" sz="3200" b="1" dirty="0">
              <a:solidFill>
                <a:srgbClr val="D80C18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228303" y="2165652"/>
            <a:ext cx="26212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系统开发相关技术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28455" y="2526665"/>
            <a:ext cx="2275840" cy="832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Relevant Technologies for 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System Development 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813273" y="3940538"/>
            <a:ext cx="639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D80C18"/>
                </a:solidFill>
              </a:rPr>
              <a:t>03</a:t>
            </a:r>
            <a:endParaRPr lang="zh-CN" altLang="en-US" sz="3200" b="1" dirty="0">
              <a:solidFill>
                <a:srgbClr val="D80C18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228303" y="3939903"/>
            <a:ext cx="639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D80C18"/>
                </a:solidFill>
              </a:rPr>
              <a:t>04</a:t>
            </a:r>
            <a:endParaRPr lang="zh-CN" altLang="en-US" sz="3200" b="1" dirty="0">
              <a:solidFill>
                <a:srgbClr val="D80C18"/>
              </a:solidFill>
            </a:endParaRPr>
          </a:p>
        </p:txBody>
      </p:sp>
      <p:cxnSp>
        <p:nvCxnSpPr>
          <p:cNvPr id="4" name="直接连接符 3"/>
          <p:cNvCxnSpPr>
            <a:stCxn id="26" idx="3"/>
          </p:cNvCxnSpPr>
          <p:nvPr/>
        </p:nvCxnSpPr>
        <p:spPr>
          <a:xfrm flipV="1">
            <a:off x="2797268" y="1326911"/>
            <a:ext cx="9394732" cy="1"/>
          </a:xfrm>
          <a:prstGeom prst="line">
            <a:avLst/>
          </a:prstGeom>
          <a:ln>
            <a:solidFill>
              <a:srgbClr val="0054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3" descr="F:\瑞度8000\信息技术大学VI\PPT\未标题-1-09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735" y="501039"/>
            <a:ext cx="2944170" cy="51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847715" y="4525010"/>
            <a:ext cx="30753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商业落地与风险管控</a:t>
            </a:r>
            <a:endParaRPr lang="zh-CN" altLang="en-US" sz="2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70695" y="4382770"/>
            <a:ext cx="2133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项目未来展望</a:t>
            </a:r>
            <a:endParaRPr lang="zh-CN" altLang="en-US" sz="2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8980" y="4920615"/>
            <a:ext cx="26149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Commercial Implementation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and Risk Management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2920" y="4985385"/>
            <a:ext cx="279908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Future Prospects of the Project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96166" y="2191079"/>
            <a:ext cx="7056113" cy="1674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</a:rPr>
              <a:t>项目概况</a:t>
            </a:r>
            <a:endParaRPr lang="en-US" altLang="zh-CN" sz="4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Project Overview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499442" y="3232995"/>
            <a:ext cx="8867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185117" y="2394795"/>
            <a:ext cx="0" cy="14707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488169" y="2345355"/>
            <a:ext cx="1538674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</a:rPr>
              <a:t>01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64355" y="3162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4390" y="1168400"/>
            <a:ext cx="1077087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en-US" altLang="zh-CN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本项目为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Vue3 + Flask 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前后端分离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图书管理系统，适配班级、小型图书室场景，解决纸质台账管理低效、记录难追溯的问题。</a:t>
            </a:r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前端基于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Element Plus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搭建可视化操作页面，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后端通过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Flask 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开发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标准化接口，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搭配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MySQL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存储图书、用户、借阅数据，依托事务保障业务数据稳定。项目采用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标准化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GitHub 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协作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流程，分管理员、普通用户两级权限，完整实现图书录入、检索、借阅归还、记录查询全业务流程。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项目完成技术难点处理、风险防控与商业价值分析，系统轻量化易部署，后续可拓展数据统计、逾期提醒等功能。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3050" y="825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项目简介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sp>
        <p:nvSpPr>
          <p:cNvPr id="2" name="横卷形 1"/>
          <p:cNvSpPr/>
          <p:nvPr/>
        </p:nvSpPr>
        <p:spPr>
          <a:xfrm>
            <a:off x="273050" y="608330"/>
            <a:ext cx="11510010" cy="5896610"/>
          </a:xfrm>
          <a:prstGeom prst="horizontalScroll">
            <a:avLst>
              <a:gd name="adj" fmla="val 7023"/>
            </a:avLst>
          </a:prstGeom>
          <a:solidFill>
            <a:srgbClr val="04BCBE">
              <a:alpha val="20000"/>
            </a:srgbClr>
          </a:solidFill>
          <a:ln>
            <a:solidFill>
              <a:srgbClr val="04BCBE">
                <a:alpha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7075" y="1351280"/>
            <a:ext cx="1089787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传统图书管理模式大多依赖人工纸质台账，存在以下核心痛点：</a:t>
            </a:r>
            <a:endParaRPr lang="en-US" altLang="zh-CN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效率低下: 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图书信息登记、借阅归还全靠手动记录，流程繁琐。</a:t>
            </a:r>
            <a:endParaRPr lang="zh-CN" altLang="en-US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数据孤岛: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数据分散在纸质文件中，难以进行有效统计和分析。</a:t>
            </a:r>
            <a:endParaRPr lang="zh-CN" altLang="en-US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易出错: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人工记录容易出现笔误，导致图书信息与实际库存不符。</a:t>
            </a:r>
            <a:endParaRPr lang="zh-CN" altLang="en-US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追溯困难: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借阅记录难以快速查询和追溯，管理混乱。</a:t>
            </a:r>
            <a:endParaRPr lang="zh-CN" altLang="en-US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随着数字化转型的推进，开发一套轻量级、易于使用的图书管理系统具有迫切的现实需求。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055" y="33020"/>
            <a:ext cx="2395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现存痛点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62305" y="2042160"/>
            <a:ext cx="10532745" cy="4185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实现图书信息数字化: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将图书信息录入系统，实现标准化、电子化管理。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核心功能完备: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实现图书的录入、查询、修改、删除四大基础操作，以及借书、还书两大核心业务流程。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用户权限管理: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区分管理员和普通用户两种角色，实现不同的操作权限。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操作流程简化: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提供极简主义的用户界面，降低管理员的学习和使用成本。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数据持久化与可追溯: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所有操作记录（借阅、归还）永久保存，支持随时查询和统计。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" y="762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项目开发目标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2305" y="1167130"/>
            <a:ext cx="10671810" cy="671830"/>
          </a:xfrm>
          <a:prstGeom prst="rect">
            <a:avLst/>
          </a:prstGeom>
          <a:solidFill>
            <a:srgbClr val="3ADEC1">
              <a:alpha val="20000"/>
            </a:srgb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为解决上述痛点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本项目旨在开发一套功能完备、操作简便的图书借阅管理系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676711" y="2191079"/>
            <a:ext cx="7056113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</a:rPr>
              <a:t>系统开发</a:t>
            </a:r>
            <a:r>
              <a:rPr lang="zh-CN" altLang="en-US" sz="4400" b="1" dirty="0">
                <a:solidFill>
                  <a:schemeClr val="bg1"/>
                </a:solidFill>
              </a:rPr>
              <a:t>相关技术</a:t>
            </a:r>
            <a:endParaRPr lang="en-US" altLang="zh-CN" sz="4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Relevant Technologies for 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System Development 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779987" y="3232995"/>
            <a:ext cx="8867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465662" y="2394795"/>
            <a:ext cx="0" cy="14707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68714" y="2345355"/>
            <a:ext cx="1538674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</a:rPr>
              <a:t>02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44900" y="3162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-1080770" y="788670"/>
            <a:ext cx="99148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1330" y="680085"/>
            <a:ext cx="11217275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前端展示层（浏览器端）</a:t>
            </a:r>
            <a:endParaRPr lang="zh-CN" altLang="en-US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 Vue3（Vue.js）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搭配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Element Plus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组件库搭建可视化管理页面，承载全部用户交互操作，所有页面渲染、表单填写、图书列表展示均在前端完成；用户执行借书、还书、查询等操作后，由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Vue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封装请求函数向后端发送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HTTP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报文，全程无页面强制刷新，交互流畅。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后端服务层（</a:t>
            </a: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Flask RESTful API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endParaRPr lang="en-US" altLang="zh-CN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采用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Python Flask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轻量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Web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服务搭建后端，严格遵循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RESTful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接口规范，统一接收前端传来的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HTTP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请求；后端内部完成参数合法性校验、用户权限校验、业务逻辑运算，同时配置跨域处理规则，解决前后端分离架构下的跨域访问限制；处理完成后向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MySQL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数据库发起读写指令，并将处理结果封装为统一格式返回至前端。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数据持久层（</a:t>
            </a: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MySQL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数据库）</a:t>
            </a:r>
            <a:endParaRPr lang="zh-CN" altLang="en-US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选用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MySQL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系型数据库存储系统全部核心业务数据，划分图书、用户、借阅记录三张核心数据表，通过外键建立实体关联；针对借书、还书等会同时修改多张数据表的关键业务，启用数据库事务机制，保障图书库存与借阅记录数据同步更新，避免出现数据错乱、脏数据等问题，最终将存储结果反馈给后端接口，完成一次完整请求闭环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5595" y="96520"/>
            <a:ext cx="30010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cs typeface="楷体" panose="02010609060101010101" charset="-122"/>
                <a:sym typeface="+mn-ea"/>
              </a:rPr>
              <a:t>系统架构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8765" y="2371090"/>
            <a:ext cx="1133983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前端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Vue 3 + Element Plus Vue 3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是渐进式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JavaScript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框架，生态成熟；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Element Plus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提供丰富的高质量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UI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组件，结合极简后台模板，能快速构建美观、响应式的管理界面。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Python 3.8+ + Flask Flask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是轻量级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Web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框架，灵活性高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学习曲线平缓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适合快速开发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API；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配合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Flask-SQLAlchemy ORM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框架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可高效、安全地操作数据库。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 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MySQL 8.0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开源免费的关系型数据库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性能稳定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社区活跃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Web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应用开发的首选数据库之一。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接口测试 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Postman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强大的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API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测试工具，用于验证后端接口的正确性和稳定性。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版本控制 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Git + GitHub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分布式版本控制系统，支持团队协作开发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完整记录代码变更历史。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215" y="1155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系统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架构与技术选型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784225" y="1054100"/>
          <a:ext cx="10276205" cy="940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231890" imgH="558165" progId="Visio.Drawing.15">
                  <p:embed/>
                </p:oleObj>
              </mc:Choice>
              <mc:Fallback>
                <p:oleObj name="" r:id="rId1" imgW="6231890" imgH="558165" progId="Visio.Drawing.15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4225" y="1054100"/>
                        <a:ext cx="10276205" cy="940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5280" y="1028065"/>
            <a:ext cx="11537315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为保证开发过程的</a:t>
            </a: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规范性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可追溯性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团队严格遵循</a:t>
            </a:r>
            <a:br>
              <a:rPr lang="en-US" altLang="zh-CN" sz="28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Issue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Pull Request</a:t>
            </a:r>
            <a:r>
              <a:rPr lang="en-US" altLang="zh-CN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8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的协作流程：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创建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Issue: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所有新功能、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BUG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修复都以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Issue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形式在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GitHub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上创建和跟踪。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分支开发: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为每个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Issue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创建一个独立的功能分支（如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feat/#12-add-book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）。</a:t>
            </a:r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提交与推送: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在本地完成开发和测试后，规范提交代码并推送到个人远程仓库。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创建</a:t>
            </a: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Pull Request(PR):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发起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PR,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将功能分支合并到主分支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并关联对应的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Issue。</a:t>
            </a:r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Code Review: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团队成员对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PR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进行代码审查，提出改进意见。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合并与关闭: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PR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审核通过后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由项目负责人合并到主分支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关联的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Issue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会自动关闭。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团队协作流程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5280" y="0"/>
            <a:ext cx="16897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前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端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pic>
        <p:nvPicPr>
          <p:cNvPr id="4" name="图片 3" descr="88391ada7cbe033397805f89d0b78b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583565"/>
            <a:ext cx="2905125" cy="4185285"/>
          </a:xfrm>
          <a:prstGeom prst="rect">
            <a:avLst/>
          </a:prstGeom>
        </p:spPr>
      </p:pic>
      <p:pic>
        <p:nvPicPr>
          <p:cNvPr id="6" name="图片 5" descr="828cd31fc61d81afb89acf9c00e34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85" y="4768215"/>
            <a:ext cx="2980055" cy="1736090"/>
          </a:xfrm>
          <a:prstGeom prst="rect">
            <a:avLst/>
          </a:prstGeom>
        </p:spPr>
      </p:pic>
      <p:pic>
        <p:nvPicPr>
          <p:cNvPr id="7" name="图片 6" descr="82fb400a480066753aa31a7a8f977ca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785" y="583565"/>
            <a:ext cx="2980055" cy="3894455"/>
          </a:xfrm>
          <a:prstGeom prst="rect">
            <a:avLst/>
          </a:prstGeom>
        </p:spPr>
      </p:pic>
      <p:pic>
        <p:nvPicPr>
          <p:cNvPr id="8" name="图片 7" descr="3029b2c5f6c33698626086bc0679ed2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75" y="0"/>
            <a:ext cx="3791585" cy="6666865"/>
          </a:xfrm>
          <a:prstGeom prst="rect">
            <a:avLst/>
          </a:prstGeom>
        </p:spPr>
      </p:pic>
      <p:pic>
        <p:nvPicPr>
          <p:cNvPr id="9" name="图片 8" descr="dd931a711918d25ce7fa3cab5184141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30" y="5050155"/>
            <a:ext cx="2905125" cy="1454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借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180" y="638810"/>
            <a:ext cx="9058910" cy="60109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借书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还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605155"/>
            <a:ext cx="8893810" cy="60337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还书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3980" y="583565"/>
            <a:ext cx="22917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查询图书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pic>
        <p:nvPicPr>
          <p:cNvPr id="2" name="图片 1" descr="查询图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0"/>
            <a:ext cx="7304405" cy="6858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980" y="0"/>
            <a:ext cx="22917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添加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图书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pic>
        <p:nvPicPr>
          <p:cNvPr id="2" name="图片 1" descr="添加图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65" y="622300"/>
            <a:ext cx="8357235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删除图书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pic>
        <p:nvPicPr>
          <p:cNvPr id="2" name="图片 1" descr="删除图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616585"/>
            <a:ext cx="8553450" cy="6032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修改图书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pic>
        <p:nvPicPr>
          <p:cNvPr id="2" name="图片 1" descr="修改图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120" y="635000"/>
            <a:ext cx="8037830" cy="6010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23240" y="1026795"/>
          <a:ext cx="11219180" cy="3080385"/>
        </p:xfrm>
        <a:graphic>
          <a:graphicData uri="http://schemas.openxmlformats.org/drawingml/2006/table">
            <a:tbl>
              <a:tblPr/>
              <a:tblGrid>
                <a:gridCol w="1410335"/>
                <a:gridCol w="1058545"/>
                <a:gridCol w="1059180"/>
                <a:gridCol w="4114800"/>
                <a:gridCol w="3576320"/>
              </a:tblGrid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功能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请求方式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URL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请求参数（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JSON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返回示例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查询所有图书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GET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/books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无（可选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?keyword=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书名）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{"code":200,"data":[{"id":1,"bookName":"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深入理解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Java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虚拟机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",...}]}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添加图书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POST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/books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{"bookName":"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书名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","author":"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作者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","publisher":"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出版社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","isbn":"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编号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","category":"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分类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","totalCount":5}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{"code":200,"message":"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添加成功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修改图书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PUT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/books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{"id":1,"bookName":"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新书名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","author":"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新作者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",...}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{"code":200,"message":"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修改成功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删除图书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DELETE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/books/1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直接在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URL 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里传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ID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{"code":200,"message":"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删除成功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借书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POST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/borrow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{"bookId":1,"userId":2}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{"code":200,"message":"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借书成功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还书</a:t>
                      </a:r>
                      <a:endParaRPr 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POST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/return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{"borrowId":1}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{"code":200,"message":"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还书成功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"}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05840" y="3754755"/>
            <a:ext cx="9908540" cy="1276985"/>
          </a:xfrm>
          <a:prstGeom prst="rect">
            <a:avLst/>
          </a:prstGeom>
        </p:spPr>
        <p:txBody>
          <a:bodyPr wrap="square">
            <a:noAutofit/>
          </a:bodyPr>
          <a:p>
            <a:endParaRPr lang="en-US" altLang="zh-CN" sz="2600"/>
          </a:p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注意事项：</a:t>
            </a:r>
            <a:endParaRPr lang="en-US" altLang="zh-CN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所有接口统一返回格式：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{ 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code: 200, data: ..., message: ...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}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code === 200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表示成功</a:t>
            </a:r>
            <a:endParaRPr lang="en-US" altLang="zh-CN" sz="2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POST/PUT 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请求需要在 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Headers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里设置 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Content-Type: application/json</a:t>
            </a:r>
            <a:endParaRPr lang="en-US" altLang="zh-CN" sz="20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删除接口的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ID 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直接拼在 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URL</a:t>
            </a:r>
            <a:r>
              <a:rPr lang="en-US" altLang="zh-CN" sz="2000" b="1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 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里，比如删除 </a:t>
            </a:r>
            <a:r>
              <a:rPr lang="en-US" altLang="zh-CN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id=3 </a:t>
            </a: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的书：</a:t>
            </a:r>
            <a:r>
              <a:rPr lang="en-US" altLang="zh-CN" sz="20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DELETE /books/3</a:t>
            </a:r>
            <a:endParaRPr lang="en-US" altLang="zh-CN" sz="20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2315" y="532447"/>
            <a:ext cx="5080000" cy="408940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15000"/>
              </a:lnSpc>
              <a:spcAft>
                <a:spcPts val="800"/>
              </a:spcAft>
            </a:pPr>
            <a:r>
              <a:rPr lang="en-US" altLang="zh-CN">
                <a:latin typeface="Arial Rounded MT Bold" panose="020F0704030504030204" charset="0"/>
                <a:ea typeface="等线" panose="02010600030101010101" charset="-122"/>
                <a:cs typeface="Arial Rounded MT Bold" panose="020F0704030504030204" charset="0"/>
              </a:rPr>
              <a:t>Base URL</a:t>
            </a:r>
            <a:r>
              <a:rPr lang="en-US" altLang="zh-CN">
                <a:latin typeface="Arial Rounded MT Bold" panose="020F0704030504030204" charset="0"/>
                <a:ea typeface="等线" panose="02010600030101010101" charset="-122"/>
                <a:cs typeface="Arial Rounded MT Bold" panose="020F0704030504030204" charset="0"/>
                <a:sym typeface="+mn-ea"/>
              </a:rPr>
              <a:t>: </a:t>
            </a:r>
            <a:r>
              <a:rPr lang="en-US" altLang="zh-CN">
                <a:latin typeface="Arial Rounded MT Bold" panose="020F0704030504030204" charset="0"/>
                <a:ea typeface="等线" panose="02010600030101010101" charset="-122"/>
                <a:cs typeface="Arial Rounded MT Bold" panose="020F0704030504030204" charset="0"/>
              </a:rPr>
              <a:t>http://localhost:5000/api</a:t>
            </a:r>
            <a:endParaRPr lang="en-US" altLang="zh-CN">
              <a:latin typeface="Arial Rounded MT Bold" panose="020F0704030504030204" charset="0"/>
              <a:ea typeface="等线" panose="02010600030101010101" charset="-122"/>
              <a:cs typeface="Arial Rounded MT Bold" panose="020F07040305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280" y="0"/>
            <a:ext cx="3514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后端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接口文档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5110" y="5810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457200" indent="-4572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仓库整合数据</a:t>
            </a:r>
            <a:r>
              <a:rPr lang="en-US" altLang="zh-CN" sz="3200" b="1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—DEV</a:t>
            </a:r>
            <a:endParaRPr lang="en-US" altLang="zh-CN" sz="3200" b="1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5" name="图片 4" descr="3214622efb6009f86cc048ae0f560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95630"/>
            <a:ext cx="12191365" cy="62630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5110" y="5810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457200" indent="-4572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仓库整合数据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主函数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5" name="图片 4" descr="微信图片_20260723160558_79_1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5555" y="576580"/>
            <a:ext cx="6913245" cy="62814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60723162047_81_1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593090"/>
            <a:ext cx="12192000" cy="6264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5110" y="5810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457200" indent="-45720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仓库整合数据</a:t>
            </a:r>
            <a:r>
              <a:rPr lang="en-US" altLang="zh-CN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—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</a:rPr>
              <a:t>主函数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181411" y="2191079"/>
            <a:ext cx="7056113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</a:rPr>
              <a:t>商业落地与风险管控</a:t>
            </a:r>
            <a:endParaRPr lang="en-US" altLang="zh-CN" sz="4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Commercial Implementation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and Risk Management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84687" y="3232995"/>
            <a:ext cx="8867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970362" y="2394795"/>
            <a:ext cx="0" cy="14707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273414" y="2345355"/>
            <a:ext cx="1538674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</a:rPr>
              <a:t>03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90720" y="3422015"/>
            <a:ext cx="196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9880" y="715010"/>
            <a:ext cx="11755755" cy="5815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1B8BA3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项目可行性分析</a:t>
            </a:r>
            <a:endParaRPr lang="en-US" altLang="zh-CN" sz="2800" b="1">
              <a:solidFill>
                <a:srgbClr val="1B8BA3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技术可行性：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Vue3、Flask、MySQL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均为成熟主流技术，官方文档、社区教程丰富，开发门槛低，无复杂底层开发需求；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操作可行性：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界面简化人工操作，完整替代纸质台账，管理员无需专业计算机知识；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部署可行性：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提供完整环境搭建命令、数据库初始化脚本，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Windows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本地一键启动前后端服务，迁移成本极低。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1B8BA3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适用落地场景</a:t>
            </a:r>
            <a:endParaRPr lang="zh-CN" altLang="en-US" sz="2800" b="1">
              <a:solidFill>
                <a:srgbClr val="1B8BA3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班级图书角</a:t>
            </a:r>
            <a:r>
              <a:rPr lang="en-US" altLang="zh-CN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中小学图书室</a:t>
            </a:r>
            <a:r>
              <a:rPr lang="en-US" altLang="zh-CN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企业内部书屋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小型社区图书馆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个人藏书数字化管理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1B8BA3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商业价值规划</a:t>
            </a:r>
            <a:endParaRPr lang="zh-CN" altLang="en-US" sz="2800" b="1">
              <a:solidFill>
                <a:srgbClr val="1B8BA3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免费基础工具：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开源免费提供基础图书增删改查、借阅功能，面向小型公益图书室积累用户；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付费增值功能：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图书分类标签、到期短信/邮件提醒、借阅数据统计图表等高级功能收费；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定制开发服务：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根据学校、企业需求定制专属模块（批量导入、多校区管理等）；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云订阅服务：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云端部署系统，按月/按年收取订阅费，免除本地部署操作。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0825" y="1085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可行性分析与</a:t>
            </a: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商业价值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3555" y="3393440"/>
            <a:ext cx="1588770" cy="415290"/>
          </a:xfrm>
          <a:prstGeom prst="rect">
            <a:avLst/>
          </a:prstGeom>
          <a:solidFill>
            <a:srgbClr val="1BFDF5">
              <a:alpha val="20000"/>
            </a:srgbClr>
          </a:solidFill>
          <a:ln>
            <a:solidFill>
              <a:srgbClr val="C2F3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26945" y="3393440"/>
            <a:ext cx="1873250" cy="415290"/>
          </a:xfrm>
          <a:prstGeom prst="rect">
            <a:avLst/>
          </a:prstGeom>
          <a:solidFill>
            <a:srgbClr val="40B9D8">
              <a:alpha val="20000"/>
            </a:srgbClr>
          </a:solidFill>
          <a:ln>
            <a:solidFill>
              <a:srgbClr val="C9E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24905" y="3393440"/>
            <a:ext cx="2181860" cy="415290"/>
          </a:xfrm>
          <a:prstGeom prst="rect">
            <a:avLst/>
          </a:prstGeom>
          <a:solidFill>
            <a:srgbClr val="5451C7">
              <a:alpha val="20000"/>
            </a:srgbClr>
          </a:solidFill>
          <a:ln>
            <a:solidFill>
              <a:srgbClr val="DAD8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540115" y="3393440"/>
            <a:ext cx="2762885" cy="415290"/>
          </a:xfrm>
          <a:prstGeom prst="rect">
            <a:avLst/>
          </a:prstGeom>
          <a:solidFill>
            <a:srgbClr val="A67287">
              <a:alpha val="20000"/>
            </a:srgbClr>
          </a:solidFill>
          <a:ln>
            <a:solidFill>
              <a:srgbClr val="E3D8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18305" y="3393440"/>
            <a:ext cx="1873250" cy="415290"/>
          </a:xfrm>
          <a:prstGeom prst="rect">
            <a:avLst/>
          </a:prstGeom>
          <a:solidFill>
            <a:srgbClr val="2C94EC">
              <a:alpha val="20000"/>
            </a:srgbClr>
          </a:solidFill>
          <a:ln>
            <a:solidFill>
              <a:srgbClr val="C9E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774700"/>
            <a:ext cx="12092305" cy="4557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前后端联调接口405跨域报错：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浏览器同源策略拦截跨域请求 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Flask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后端安装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flask-cors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库，全局配置允许前端8080端口跨域访问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npm install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下载依赖速度极慢：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官方国外镜像源网络延迟高 执行 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npm config set registry https://registry.npmmirror.com 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切换淘宝镜像加速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MySQL8.0 Python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连接失败：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8.0默认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sha2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密码加密，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Flask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不兼容 执行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SQL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修改用户加密方式为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mysql_native_password </a:t>
            </a:r>
            <a:endParaRPr lang="en-US" altLang="zh-CN" sz="24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Git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合并代码大量冲突：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多人同时修改同一文件，未定期同步主分支 规范分支流程，开发前拉取最新代码，使用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rebase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替代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merge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减少冲突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项目启动环境报错：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虚拟环境、数据库密码未配置规范 编写完整部署手册，分步标注激活虚拟环境、修改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config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数据库密码、启动命令 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本地文件夹带空格，</a:t>
            </a:r>
            <a:r>
              <a:rPr lang="en-US" altLang="zh-CN" sz="2400">
                <a:solidFill>
                  <a:srgbClr val="0070C0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cmd</a:t>
            </a: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启动报错：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命令行路径识别空格中断 所有启动命令中项目路径使用英文双引号包裹，如 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cd "/d/</a:t>
            </a:r>
            <a:r>
              <a:rPr lang="zh-CN" altLang="en-US" sz="2400" b="1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蒙</a:t>
            </a:r>
            <a:r>
              <a:rPr lang="zh-CN" altLang="en-US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/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 Project/backend"  </a:t>
            </a:r>
            <a:endParaRPr lang="en-US" altLang="zh-CN" sz="24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  <a:p>
            <a:pPr fontAlgn="auto">
              <a:lnSpc>
                <a:spcPct val="125000"/>
              </a:lnSpc>
            </a:pPr>
            <a:endParaRPr lang="zh-CN" altLang="en-US" sz="24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825" y="1085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开发过程典型问题与解决方案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3765" y="725170"/>
            <a:ext cx="1010729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技术类风险</a:t>
            </a:r>
            <a:endParaRPr lang="en-US" altLang="zh-CN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风险：框架版本迭代、组件兼容问题导致功能失效</a:t>
            </a:r>
            <a:endParaRPr lang="zh-CN" altLang="en-US" sz="24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规避：开发初期选用稳定长期支持版本，前期搭建原型验证兼容性；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统一记录依赖版本至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requirements.txt、package.json</a:t>
            </a:r>
            <a:endParaRPr lang="en-US" altLang="zh-CN" sz="2400">
              <a:latin typeface="Arial Rounded MT Bold" panose="020F0704030504030204" charset="0"/>
              <a:ea typeface="楷体" panose="02010609060101010101" charset="-122"/>
              <a:cs typeface="Arial Rounded MT Bold" panose="020F0704030504030204" charset="0"/>
            </a:endParaRPr>
          </a:p>
          <a:p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团队协作风险</a:t>
            </a:r>
            <a:endParaRPr lang="zh-CN" altLang="en-US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风险：成员沟通不畅，重复开发、代码冲突、功能遗漏</a:t>
            </a:r>
            <a:endParaRPr lang="zh-CN" altLang="en-US" sz="24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规避：每周同步开发进度，严格执行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GitHub Issue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任务分配；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PR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合并前必须完成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Code Review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同步开发文档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系统质量风险</a:t>
            </a:r>
            <a:endParaRPr lang="zh-CN" altLang="en-US" sz="2400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风险：代码隐藏</a:t>
            </a:r>
            <a:r>
              <a:rPr lang="en-US" altLang="zh-CN" sz="2400">
                <a:solidFill>
                  <a:schemeClr val="accent3">
                    <a:lumMod val="50000"/>
                  </a:schemeClr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Bug</a:t>
            </a:r>
            <a:r>
              <a:rPr lang="en-US" altLang="zh-CN" sz="24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4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实际使用时功能异常</a:t>
            </a:r>
            <a:endParaRPr lang="zh-CN" altLang="en-US" sz="24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规避：每个功能开发完成后，手动页面测试</a:t>
            </a:r>
            <a:r>
              <a:rPr lang="zh-CN" altLang="en-US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+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Postman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接口双重校验；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编写单元测试和集成测试，留存测试截图，提前修复异常逻辑；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PR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合并前进行严格的</a:t>
            </a:r>
            <a:r>
              <a:rPr lang="en-US" altLang="zh-CN" sz="2400"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Code Review</a:t>
            </a:r>
            <a:endParaRPr lang="en-US" altLang="zh-CN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665" y="660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项目风险评估与规避策略</a:t>
            </a:r>
            <a:endParaRPr lang="en-US" altLang="zh-CN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129341" y="2315539"/>
            <a:ext cx="7056113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</a:rPr>
              <a:t>项目未来展望</a:t>
            </a:r>
            <a:endParaRPr lang="en-US" altLang="zh-CN" sz="4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Future Prospects of the Project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32617" y="3357455"/>
            <a:ext cx="88673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918292" y="2519255"/>
            <a:ext cx="0" cy="14707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221344" y="2469815"/>
            <a:ext cx="1538674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</a:rPr>
              <a:t>04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77335" y="3287395"/>
            <a:ext cx="196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58240" y="885190"/>
            <a:ext cx="9875520" cy="4984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本项目完整实现一套轻量化图书借阅数字化管理系统，解决传统纸质台账管理低效、易出错、记录难追溯的痛点，落地图书</a:t>
            </a:r>
            <a:r>
              <a:rPr lang="en-US" altLang="zh-CN" sz="2800">
                <a:solidFill>
                  <a:srgbClr val="450C8D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CRUD</a:t>
            </a:r>
            <a:r>
              <a:rPr lang="en-US" altLang="zh-CN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借书还书、多角色权限、记录查询全部核心业务。</a:t>
            </a:r>
            <a:endParaRPr lang="zh-CN" altLang="en-US" sz="2800" b="1">
              <a:solidFill>
                <a:srgbClr val="450C8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开发过程完整实践</a:t>
            </a:r>
            <a:r>
              <a:rPr lang="en-US" altLang="zh-CN" sz="2800">
                <a:solidFill>
                  <a:srgbClr val="450C8D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GitHub</a:t>
            </a: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开源协作开发模式，团队熟练掌握</a:t>
            </a:r>
            <a:r>
              <a:rPr lang="en-US" altLang="zh-CN" sz="2800">
                <a:solidFill>
                  <a:srgbClr val="450C8D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Vue3</a:t>
            </a: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前端、</a:t>
            </a:r>
            <a:r>
              <a:rPr lang="en-US" altLang="zh-CN" sz="2800">
                <a:solidFill>
                  <a:srgbClr val="450C8D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Flask</a:t>
            </a: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后端、</a:t>
            </a:r>
            <a:r>
              <a:rPr lang="en-US" altLang="zh-CN" sz="2800">
                <a:solidFill>
                  <a:srgbClr val="450C8D"/>
                </a:solidFill>
                <a:latin typeface="Arial Rounded MT Bold" panose="020F0704030504030204" charset="0"/>
                <a:ea typeface="楷体" panose="02010609060101010101" charset="-122"/>
                <a:cs typeface="Arial Rounded MT Bold" panose="020F0704030504030204" charset="0"/>
              </a:rPr>
              <a:t>MySQL</a:t>
            </a:r>
            <a:r>
              <a:rPr lang="zh-CN" altLang="en-US" sz="2800" b="1">
                <a:solidFill>
                  <a:srgbClr val="450C8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数据库全栈开发能力，同时积累问题排查、多人协同、项目文档撰写工程经验，系统可直接投入小型图书室实际使用。</a:t>
            </a:r>
            <a:endParaRPr lang="zh-CN" altLang="en-US" sz="2800" b="1">
              <a:solidFill>
                <a:srgbClr val="450C8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9900" y="1333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cs typeface="楷体" panose="02010609060101010101" charset="-122"/>
                <a:sym typeface="+mn-ea"/>
              </a:rPr>
              <a:t>项目整体总结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59835" y="727075"/>
            <a:ext cx="7487285" cy="5759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新增图书分类、标签管理功能，图书快速分类筛选；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支持图书封面图片上传展示；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新增借阅到期自动提醒（邮件/短信通知）；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增加数据可视化统计图表，展示月度借阅热门图书。</a:t>
            </a:r>
            <a:endParaRPr lang="en-US" altLang="zh-CN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数据库索引优化，提升大批量图书检索速度；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引入缓存机制，减少高频查询数据库访问压力。</a:t>
            </a:r>
            <a:endParaRPr lang="en-US" altLang="zh-CN" sz="28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开发移动端适配页面、小程序客户端；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云端容器部署，支持多租户多图书室同时使用。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0745" y="54610"/>
            <a:ext cx="40487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3200">
                <a:solidFill>
                  <a:srgbClr val="0070C0"/>
                </a:solidFill>
                <a:latin typeface="隶书" panose="02010509060101010101" charset="-122"/>
                <a:ea typeface="隶书" panose="02010509060101010101" charset="-122"/>
                <a:cs typeface="楷体" panose="02010609060101010101" charset="-122"/>
                <a:sym typeface="+mn-ea"/>
              </a:rPr>
              <a:t>后续迭代拓展方向</a:t>
            </a:r>
            <a:endParaRPr lang="zh-CN" altLang="en-US" sz="320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9040" y="1475105"/>
            <a:ext cx="219900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16A7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功能拓展</a:t>
            </a:r>
            <a:endParaRPr lang="zh-CN" altLang="en-US" sz="2800" b="1">
              <a:solidFill>
                <a:srgbClr val="016A7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6510" y="3678555"/>
            <a:ext cx="212153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16A7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性能优化</a:t>
            </a:r>
            <a:endParaRPr lang="zh-CN" altLang="en-US" sz="2800" b="1">
              <a:solidFill>
                <a:srgbClr val="016A7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86510" y="5290820"/>
            <a:ext cx="22923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16A7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平台拓展</a:t>
            </a:r>
            <a:endParaRPr lang="zh-CN" altLang="en-US" sz="2800" b="1">
              <a:solidFill>
                <a:srgbClr val="016A7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39495" y="899160"/>
            <a:ext cx="2368550" cy="2167255"/>
          </a:xfrm>
          <a:prstGeom prst="rect">
            <a:avLst/>
          </a:prstGeom>
          <a:solidFill>
            <a:srgbClr val="1BFDF5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39495" y="3429000"/>
            <a:ext cx="2368550" cy="1372235"/>
          </a:xfrm>
          <a:prstGeom prst="rect">
            <a:avLst/>
          </a:prstGeom>
          <a:solidFill>
            <a:srgbClr val="1BFDF5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39495" y="5078730"/>
            <a:ext cx="2368550" cy="1376045"/>
          </a:xfrm>
          <a:prstGeom prst="rect">
            <a:avLst/>
          </a:prstGeom>
          <a:solidFill>
            <a:srgbClr val="1BFDF5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789680" y="898525"/>
            <a:ext cx="7534275" cy="2168525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789045" y="3429000"/>
            <a:ext cx="7534910" cy="1372235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789045" y="5078095"/>
            <a:ext cx="7534910" cy="1376045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rgbClr val="1BFDF5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278249" y="2685051"/>
            <a:ext cx="7497378" cy="1200329"/>
            <a:chOff x="3030724" y="2705441"/>
            <a:chExt cx="7497378" cy="1200329"/>
          </a:xfrm>
        </p:grpSpPr>
        <p:sp>
          <p:nvSpPr>
            <p:cNvPr id="2" name="矩形 1"/>
            <p:cNvSpPr/>
            <p:nvPr/>
          </p:nvSpPr>
          <p:spPr>
            <a:xfrm>
              <a:off x="3030724" y="2705441"/>
              <a:ext cx="4339650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7200" b="1" dirty="0">
                  <a:solidFill>
                    <a:schemeClr val="bg1"/>
                  </a:solidFill>
                </a:rPr>
                <a:t>THANKS!</a:t>
              </a:r>
              <a:endParaRPr lang="zh-CN" altLang="en-US" sz="72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265670" y="3019230"/>
              <a:ext cx="326243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</a:rPr>
                <a:t>感谢您的聆听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0" y="5441624"/>
            <a:ext cx="121920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汇报人：时荷</a:t>
            </a:r>
            <a:r>
              <a:rPr lang="zh-CN" altLang="en-US" dirty="0"/>
              <a:t>一</a:t>
            </a:r>
            <a:endParaRPr lang="zh-CN" altLang="en-US" dirty="0"/>
          </a:p>
          <a:p>
            <a:pPr algn="ctr">
              <a:lnSpc>
                <a:spcPct val="150000"/>
              </a:lnSpc>
            </a:pP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TABLE_ENDDRAG_ORIGIN_RECT" val="883*264"/>
  <p:tag name="TABLE_ENDDRAG_RECT" val="76*48*883*264"/>
</p:tagLst>
</file>

<file path=ppt/tags/tag3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3F25"/>
      </a:accent1>
      <a:accent2>
        <a:srgbClr val="838A8D"/>
      </a:accent2>
      <a:accent3>
        <a:srgbClr val="DF7670"/>
      </a:accent3>
      <a:accent4>
        <a:srgbClr val="9AA1A4"/>
      </a:accent4>
      <a:accent5>
        <a:srgbClr val="D9D2CB"/>
      </a:accent5>
      <a:accent6>
        <a:srgbClr val="444546"/>
      </a:accent6>
      <a:hlink>
        <a:srgbClr val="D9D2C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43F25"/>
    </a:accent1>
    <a:accent2>
      <a:srgbClr val="838A8D"/>
    </a:accent2>
    <a:accent3>
      <a:srgbClr val="DF7670"/>
    </a:accent3>
    <a:accent4>
      <a:srgbClr val="9AA1A4"/>
    </a:accent4>
    <a:accent5>
      <a:srgbClr val="D9D2CB"/>
    </a:accent5>
    <a:accent6>
      <a:srgbClr val="444546"/>
    </a:accent6>
    <a:hlink>
      <a:srgbClr val="D9D2CB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43F25"/>
    </a:accent1>
    <a:accent2>
      <a:srgbClr val="838A8D"/>
    </a:accent2>
    <a:accent3>
      <a:srgbClr val="DF7670"/>
    </a:accent3>
    <a:accent4>
      <a:srgbClr val="9AA1A4"/>
    </a:accent4>
    <a:accent5>
      <a:srgbClr val="D9D2CB"/>
    </a:accent5>
    <a:accent6>
      <a:srgbClr val="444546"/>
    </a:accent6>
    <a:hlink>
      <a:srgbClr val="D9D2CB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4608</Words>
  <Application>WPS 演示</Application>
  <PresentationFormat>宽屏</PresentationFormat>
  <Paragraphs>299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楷体</vt:lpstr>
      <vt:lpstr>Wingdings</vt:lpstr>
      <vt:lpstr>隶书</vt:lpstr>
      <vt:lpstr>Arial Rounded MT Bold</vt:lpstr>
      <vt:lpstr>Arial Unicode MS</vt:lpstr>
      <vt:lpstr>Calibri</vt:lpstr>
      <vt:lpstr>等线</vt:lpstr>
      <vt:lpstr>主题5</vt:lpstr>
      <vt:lpstr>Visio.Drawing.15</vt:lpstr>
      <vt:lpstr>图书借阅管理系统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WPS_1642375510</cp:lastModifiedBy>
  <cp:revision>90</cp:revision>
  <cp:lastPrinted>2017-11-14T16:00:00Z</cp:lastPrinted>
  <dcterms:created xsi:type="dcterms:W3CDTF">2017-11-14T16:00:00Z</dcterms:created>
  <dcterms:modified xsi:type="dcterms:W3CDTF">2026-07-23T08:57:13Z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2052-12.1.0.26895</vt:lpwstr>
  </property>
  <property fmtid="{D5CDD505-2E9C-101B-9397-08002B2CF9AE}" pid="4" name="ICV">
    <vt:lpwstr>01D0ECB36D7C404E8BA61F1A285B217A_13</vt:lpwstr>
  </property>
</Properties>
</file>